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E4D3FFE1-3DEE-6733-F472-5D74A17A8096}">
          <p14:sldIdLst>
            <p14:sldId id="256"/>
            <p14:sldId id="257"/>
            <p14:sldId id="258"/>
            <p14:sldId id="259"/>
            <p14:sldId id="262"/>
            <p14:sldId id="26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1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one-sentence idea: we simulate a powered prosthesis and use sensor fusion to estimate ground reaction forces and gait phase, then drive the motor with that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estimation matters: the motor can only be as good as the state the controller believes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measurable outcomes. Be clear that numeric targets come after the baseline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that fusion is the focus and that ground truth comes for free in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group agreed on Python. The MVP is our proposal and has not yet been confirmed by the whole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follow the course milestones. We are at the first one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full papers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867410"/>
            <a:ext cx="786384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Prosthetic Leg with an Ankle Motor Actuated by Sensor Fusion and Machine Learning.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 simulation case study: below-knee, ankle motor.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Case Study: Assistive Robotics for Improvement of Life Quality  |  Group 8  |  Prof. H. Heidari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Sanket Tummod, Jiyan Lathiya, Sri Krishna Pranav </a:t>
            </a:r>
            <a:r>
              <a:rPr lang="en-US" sz="1400" dirty="0" err="1">
                <a:solidFill>
                  <a:schemeClr val="bg2"/>
                </a:solidFill>
              </a:rPr>
              <a:t>Challapalli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problemCard"/>
          <p:cNvSpPr/>
          <p:nvPr/>
        </p:nvSpPr>
        <p:spPr>
          <a:xfrm>
            <a:off x="457200" y="128016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whyCard"/>
          <p:cNvSpPr/>
          <p:nvPr/>
        </p:nvSpPr>
        <p:spPr>
          <a:xfrm>
            <a:off x="4709160" y="128016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goes wrong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185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powered prosthesis carries many sensors; each adds cost, weight, wiring and a failure point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controller only sees the user through noisy, drifting sensors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Ground reaction force (GRF) cannot be measured with a force plate in daily use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185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Fuse several simulated sensors to estimate GRF and gait phase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Ankle torque tracking error and motor effort, controller with sensor fusion and machine learning.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 and KPIs</a:t>
            </a:r>
            <a:endParaRPr lang="en-US" sz="3200" dirty="0"/>
          </a:p>
        </p:txBody>
      </p:sp>
      <p:sp>
        <p:nvSpPr>
          <p:cNvPr id="3" name="kpiCard0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kpiNum0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GRF estimation error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74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RMSE as % of body weight, fused vs. raw, vs. simulation and a public dataset</a:t>
            </a:r>
            <a:endParaRPr lang="en-US" sz="1400" dirty="0"/>
          </a:p>
        </p:txBody>
      </p:sp>
      <p:sp>
        <p:nvSpPr>
          <p:cNvPr id="8" name="kpiCard1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kpiNum1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463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Gait-phase accuracy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874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Timing error of heel strike and toe-off, phase accuracy</a:t>
            </a:r>
            <a:endParaRPr lang="en-US" sz="1400" dirty="0"/>
          </a:p>
        </p:txBody>
      </p:sp>
      <p:sp>
        <p:nvSpPr>
          <p:cNvPr id="13" name="kpiCard2"/>
          <p:cNvSpPr/>
          <p:nvPr/>
        </p:nvSpPr>
        <p:spPr>
          <a:xfrm>
            <a:off x="2638208" y="283464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kpiNum2"/>
          <p:cNvSpPr/>
          <p:nvPr/>
        </p:nvSpPr>
        <p:spPr>
          <a:xfrm>
            <a:off x="2860031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6680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52608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Ankle torque quality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52608" y="3429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Torque tracking error and motor effort, </a:t>
            </a:r>
            <a:r>
              <a:rPr lang="en-US" sz="1400" dirty="0"/>
              <a:t>using sensor fusion and machine learning.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concept</a:t>
            </a:r>
            <a:endParaRPr lang="en-US" sz="3200" dirty="0"/>
          </a:p>
        </p:txBody>
      </p:sp>
      <p:sp>
        <p:nvSpPr>
          <p:cNvPr id="3" name="stage0"/>
          <p:cNvSpPr/>
          <p:nvPr/>
        </p:nvSpPr>
        <p:spPr>
          <a:xfrm>
            <a:off x="457200" y="137160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Leg, prosthesis, ground contact, ankle motor</a:t>
            </a:r>
            <a:endParaRPr lang="en-US" sz="1200" dirty="0"/>
          </a:p>
        </p:txBody>
      </p:sp>
      <p:sp>
        <p:nvSpPr>
          <p:cNvPr id="6" name="arrow0"/>
          <p:cNvSpPr/>
          <p:nvPr/>
        </p:nvSpPr>
        <p:spPr>
          <a:xfrm>
            <a:off x="1956816" y="2148840"/>
            <a:ext cx="173736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7" name="stage1"/>
          <p:cNvSpPr/>
          <p:nvPr/>
        </p:nvSpPr>
        <p:spPr>
          <a:xfrm>
            <a:off x="2144268" y="137160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35708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Sensors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35708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IMUs, encoder, pylon load cell, foot pressure (simulated noise)</a:t>
            </a:r>
            <a:endParaRPr lang="en-US" sz="1200" dirty="0"/>
          </a:p>
        </p:txBody>
      </p:sp>
      <p:sp>
        <p:nvSpPr>
          <p:cNvPr id="10" name="arrow1"/>
          <p:cNvSpPr/>
          <p:nvPr/>
        </p:nvSpPr>
        <p:spPr>
          <a:xfrm>
            <a:off x="3643884" y="2148840"/>
            <a:ext cx="173736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1" name="stage2"/>
          <p:cNvSpPr/>
          <p:nvPr/>
        </p:nvSpPr>
        <p:spPr>
          <a:xfrm>
            <a:off x="3831336" y="137160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22776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Fusion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22776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Estimate GRF and gait phase</a:t>
            </a:r>
            <a:endParaRPr lang="en-US" sz="1200" dirty="0"/>
          </a:p>
        </p:txBody>
      </p:sp>
      <p:sp>
        <p:nvSpPr>
          <p:cNvPr id="14" name="arrow2"/>
          <p:cNvSpPr/>
          <p:nvPr/>
        </p:nvSpPr>
        <p:spPr>
          <a:xfrm>
            <a:off x="5330952" y="2148840"/>
            <a:ext cx="173736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stage3"/>
          <p:cNvSpPr/>
          <p:nvPr/>
        </p:nvSpPr>
        <p:spPr>
          <a:xfrm>
            <a:off x="5518404" y="137160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09844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Controller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09844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Torque command from fused estimate</a:t>
            </a:r>
            <a:endParaRPr lang="en-US" sz="1200" dirty="0"/>
          </a:p>
        </p:txBody>
      </p:sp>
      <p:sp>
        <p:nvSpPr>
          <p:cNvPr id="18" name="arrow3"/>
          <p:cNvSpPr/>
          <p:nvPr/>
        </p:nvSpPr>
        <p:spPr>
          <a:xfrm>
            <a:off x="7018020" y="2148840"/>
            <a:ext cx="173736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9" name="stage4"/>
          <p:cNvSpPr/>
          <p:nvPr/>
        </p:nvSpPr>
        <p:spPr>
          <a:xfrm>
            <a:off x="7205472" y="1371600"/>
            <a:ext cx="1481328" cy="18288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96912" y="14813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Motor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96912" y="192024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Torque with limits drives the ankle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MVP</a:t>
            </a:r>
            <a:endParaRPr lang="en-US" sz="3200" dirty="0"/>
          </a:p>
        </p:txBody>
      </p:sp>
      <p:sp>
        <p:nvSpPr>
          <p:cNvPr id="3" name="stackCard"/>
          <p:cNvSpPr/>
          <p:nvPr/>
        </p:nvSpPr>
        <p:spPr>
          <a:xfrm>
            <a:off x="457200" y="128016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4" name="mvpCard"/>
          <p:cNvSpPr/>
          <p:nvPr/>
        </p:nvSpPr>
        <p:spPr>
          <a:xfrm>
            <a:off x="4709160" y="1280160"/>
            <a:ext cx="39776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Python: NumPy, SciPy, matplotlib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Existing simulation library, if a suitable one exists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gait dataset with force-plate data for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for code, data and docs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MVP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2024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joint: the ankle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Sit to stand only.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signal compared with one filter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Timeline</a:t>
            </a:r>
            <a:endParaRPr lang="en-US" sz="3200" dirty="0"/>
          </a:p>
        </p:txBody>
      </p:sp>
      <p:sp>
        <p:nvSpPr>
          <p:cNvPr id="3" name="timelineLine"/>
          <p:cNvSpPr/>
          <p:nvPr/>
        </p:nvSpPr>
        <p:spPr>
          <a:xfrm>
            <a:off x="822960" y="2103120"/>
            <a:ext cx="74980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mile0"/>
          <p:cNvSpPr/>
          <p:nvPr/>
        </p:nvSpPr>
        <p:spPr>
          <a:xfrm>
            <a:off x="667512" y="194767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21 Oct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Proposal</a:t>
            </a:r>
            <a:endParaRPr lang="en-US" sz="1400" dirty="0"/>
          </a:p>
        </p:txBody>
      </p:sp>
      <p:sp>
        <p:nvSpPr>
          <p:cNvPr id="7" name="mile1"/>
          <p:cNvSpPr/>
          <p:nvPr/>
        </p:nvSpPr>
        <p:spPr>
          <a:xfrm>
            <a:off x="2167128" y="1947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36776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 Nov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36776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Literature review, baseline sim</a:t>
            </a:r>
            <a:endParaRPr lang="en-US" sz="1400" dirty="0"/>
          </a:p>
        </p:txBody>
      </p:sp>
      <p:sp>
        <p:nvSpPr>
          <p:cNvPr id="10" name="mile2"/>
          <p:cNvSpPr/>
          <p:nvPr/>
        </p:nvSpPr>
        <p:spPr>
          <a:xfrm>
            <a:off x="3666744" y="1947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6392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18 Nov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Methodology locked</a:t>
            </a:r>
            <a:endParaRPr lang="en-US" sz="1400" dirty="0"/>
          </a:p>
        </p:txBody>
      </p:sp>
      <p:sp>
        <p:nvSpPr>
          <p:cNvPr id="13" name="mile3"/>
          <p:cNvSpPr/>
          <p:nvPr/>
        </p:nvSpPr>
        <p:spPr>
          <a:xfrm>
            <a:off x="5166360" y="1947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6008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 Dec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Simulation and first results</a:t>
            </a:r>
            <a:endParaRPr lang="en-US" sz="1400" dirty="0"/>
          </a:p>
        </p:txBody>
      </p:sp>
      <p:sp>
        <p:nvSpPr>
          <p:cNvPr id="16" name="mile4"/>
          <p:cNvSpPr/>
          <p:nvPr/>
        </p:nvSpPr>
        <p:spPr>
          <a:xfrm>
            <a:off x="6665976" y="1947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35624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16 Dec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35624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Demo, experiments, analysis</a:t>
            </a:r>
            <a:endParaRPr lang="en-US" sz="1400" dirty="0"/>
          </a:p>
        </p:txBody>
      </p:sp>
      <p:sp>
        <p:nvSpPr>
          <p:cNvPr id="19" name="mile5"/>
          <p:cNvSpPr/>
          <p:nvPr/>
        </p:nvSpPr>
        <p:spPr>
          <a:xfrm>
            <a:off x="8165592" y="19476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13 Jan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Final report and talk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T. Fiumalbi et al., "A Multimodal Sensory Apparatus for Robotic Prosthetic Feet Combining Optoelectronic Pressure Transducers and IMU," Sensors, vol. 22, no. 5, art. 1731, 2022, doi:10.3390/s22051731.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H. T. T. Vu et al., "A Review of Gait Phase Detection Algorithms for Lower Limb Prostheses," Sensors, vol. 20, no. 14, art. 3972, 2020, doi:10.3390/s20143972.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N. Thatte, T. Shah and H. Geyer, "Robust and Adaptive Lower Limb Prosthesis Stance Control via Extended Kalman Filter-Based Gait Phase Estimation," IEEE Robotics and Automation Letters, vol. 4, no. 4, pp. 3129-3136, 2019.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Abstract-level check only; to be read in full for the Nov 4 literature review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dirty="0"/>
              <a:t>Thank you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Group 8: Sanket Tummod, Jiyan Lathiya, Sri Krishna Pranav Challapalli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sthesis Sim">
  <a:themeElements>
    <a:clrScheme name="Prosthesis Sim">
      <a:dk1>
        <a:srgbClr val="1F2A37"/>
      </a:dk1>
      <a:lt1>
        <a:srgbClr val="FFFFFF"/>
      </a:lt1>
      <a:dk2>
        <a:srgbClr val="14344A"/>
      </a:dk2>
      <a:lt2>
        <a:srgbClr val="EEF3F6"/>
      </a:lt2>
      <a:accent1>
        <a:srgbClr val="1C7293"/>
      </a:accent1>
      <a:accent2>
        <a:srgbClr val="F2A541"/>
      </a:accent2>
      <a:accent3>
        <a:srgbClr val="5B7C99"/>
      </a:accent3>
      <a:accent4>
        <a:srgbClr val="2E9E83"/>
      </a:accent4>
      <a:accent5>
        <a:srgbClr val="C8553D"/>
      </a:accent5>
      <a:accent6>
        <a:srgbClr val="8A97A6"/>
      </a:accent6>
      <a:hlink>
        <a:srgbClr val="1C7293"/>
      </a:hlink>
      <a:folHlink>
        <a:srgbClr val="5B7C99"/>
      </a:folHlink>
    </a:clrScheme>
    <a:fontScheme name="Prosthesis Si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652</Words>
  <Application>Microsoft Office PowerPoint</Application>
  <PresentationFormat>On-screen Show (16:9)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Prosthesis Sim</vt:lpstr>
      <vt:lpstr>Prosthetic Leg with an Ankle Motor Actuated by Sensor Fusion and Machine Learning.</vt:lpstr>
      <vt:lpstr>The problem</vt:lpstr>
      <vt:lpstr>Objectives and KPIs</vt:lpstr>
      <vt:lpstr>System concept</vt:lpstr>
      <vt:lpstr>Tech stack and MVP</vt:lpstr>
      <vt:lpstr>Timeline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Fusion for a Powered Lower-Limb Prosthesis (sample deck)</dc:title>
  <dc:subject>PptxGenJS Presentation</dc:subject>
  <dc:creator>Group 8</dc:creator>
  <cp:lastModifiedBy>Krishna Pranav</cp:lastModifiedBy>
  <cp:revision>5</cp:revision>
  <dcterms:created xsi:type="dcterms:W3CDTF">2026-10-21T11:54:08Z</dcterms:created>
  <dcterms:modified xsi:type="dcterms:W3CDTF">2026-10-25T16:12:19Z</dcterms:modified>
</cp:coreProperties>
</file>